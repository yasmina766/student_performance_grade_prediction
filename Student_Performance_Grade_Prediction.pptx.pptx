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00503000000020004"/>
      <p:regular r:id="rId23"/>
    </p:embeddedFont>
    <p:embeddedFont>
      <p:font typeface="Inter Medium" charset="1" panose="02000503000000020004"/>
      <p:regular r:id="rId24"/>
    </p:embeddedFont>
    <p:embeddedFont>
      <p:font typeface="Calibri (MS)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3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" y="114300"/>
            <a:ext cx="18059400" cy="10287000"/>
            <a:chOff x="0" y="0"/>
            <a:chExt cx="240792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07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" y="114300"/>
            <a:ext cx="20574000" cy="10287000"/>
            <a:chOff x="0" y="0"/>
            <a:chExt cx="27432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432000">
                  <a:moveTo>
                    <a:pt x="0" y="0"/>
                  </a:moveTo>
                  <a:lnTo>
                    <a:pt x="27432000" y="0"/>
                  </a:lnTo>
                  <a:lnTo>
                    <a:pt x="2743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7362" y="1819275"/>
            <a:ext cx="11430000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4"/>
              </a:lnSpc>
            </a:pPr>
            <a:r>
              <a:rPr lang="en-US" sz="8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STUDENT PERFORMANCE</a:t>
            </a:r>
          </a:p>
          <a:p>
            <a:pPr algn="l">
              <a:lnSpc>
                <a:spcPts val="8764"/>
              </a:lnSpc>
            </a:pPr>
            <a:r>
              <a:rPr lang="en-US" sz="8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GRADE PREDICTION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7362" y="5754036"/>
            <a:ext cx="11430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4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A Machine Learning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0691" y="7427187"/>
            <a:ext cx="5791671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PREPARED BY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Malk Hany Amer 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Yasmina Mohamed Gbreil 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Shams Essam ibrahim Sadek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60456" y="7427187"/>
            <a:ext cx="4367089" cy="126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SUPERVISOR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Ahmed Abd El_Salam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959753" y="0"/>
            <a:ext cx="6280460" cy="10287000"/>
            <a:chOff x="0" y="0"/>
            <a:chExt cx="8373946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739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373946">
                  <a:moveTo>
                    <a:pt x="0" y="0"/>
                  </a:moveTo>
                  <a:lnTo>
                    <a:pt x="8373946" y="0"/>
                  </a:lnTo>
                  <a:lnTo>
                    <a:pt x="83739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7395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571500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PROJECT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15250" y="1236707"/>
            <a:ext cx="9429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CORE IDEA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01012" y="2018948"/>
            <a:ext cx="70866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Predict student final grades using 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1012" y="2590448"/>
            <a:ext cx="40112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at-risk students early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1012" y="3161948"/>
            <a:ext cx="418623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Support academic intervention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15250" y="3970030"/>
            <a:ext cx="9429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01012" y="4752270"/>
            <a:ext cx="348972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Predict grades accurately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01012" y="5323770"/>
            <a:ext cx="281106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Compare ML models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01012" y="5895270"/>
            <a:ext cx="243601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Select best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01012" y="6466770"/>
            <a:ext cx="345043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3039723"/>
            <a:ext cx="399335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7"/>
              </a:lnSpc>
            </a:pPr>
            <a:r>
              <a:rPr lang="en-US" sz="83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10,000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4116048"/>
            <a:ext cx="3993356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TOTAL STUDENTS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59956" y="3039723"/>
            <a:ext cx="326112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7"/>
              </a:lnSpc>
            </a:pPr>
            <a:r>
              <a:rPr lang="en-US" sz="83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9,786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9956" y="4116048"/>
            <a:ext cx="3261122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CLEAN RECORDS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4688" y="3039723"/>
            <a:ext cx="2500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7"/>
              </a:lnSpc>
            </a:pPr>
            <a:r>
              <a:rPr lang="en-US" sz="83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4688" y="4116048"/>
            <a:ext cx="2500312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TOTAL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5328123"/>
            <a:ext cx="2628900" cy="47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DEMOGRAPHIC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7325" y="6071073"/>
            <a:ext cx="90725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Gender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7325" y="6524701"/>
            <a:ext cx="106799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Ethnicity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7325" y="6978329"/>
            <a:ext cx="230743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Parental Education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1281" y="5328123"/>
            <a:ext cx="1889522" cy="47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ACADEMIC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5606" y="6071073"/>
            <a:ext cx="141089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Math Score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05606" y="6524701"/>
            <a:ext cx="1789509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Reading 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5606" y="6978329"/>
            <a:ext cx="1671638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Writing Score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5606" y="7431957"/>
            <a:ext cx="177165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Science Score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9562" y="5328123"/>
            <a:ext cx="1650206" cy="47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SUPPORT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53887" y="6071073"/>
            <a:ext cx="1435894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Lunch Type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53887" y="6524701"/>
            <a:ext cx="202168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Test Preparation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GRADE LABELING &amp; PROBLEM TYPE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3268323"/>
            <a:ext cx="2734551" cy="985838"/>
            <a:chOff x="0" y="0"/>
            <a:chExt cx="3646068" cy="1314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6043" cy="1314450"/>
            </a:xfrm>
            <a:custGeom>
              <a:avLst/>
              <a:gdLst/>
              <a:ahLst/>
              <a:cxnLst/>
              <a:rect r="r" b="b" t="t" l="l"/>
              <a:pathLst>
                <a:path h="1314450" w="3646043">
                  <a:moveTo>
                    <a:pt x="0" y="0"/>
                  </a:moveTo>
                  <a:lnTo>
                    <a:pt x="3646043" y="0"/>
                  </a:lnTo>
                  <a:lnTo>
                    <a:pt x="3646043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3000" y="3268323"/>
            <a:ext cx="2734551" cy="985838"/>
            <a:chOff x="0" y="0"/>
            <a:chExt cx="3646068" cy="1314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46067" cy="1314451"/>
            </a:xfrm>
            <a:custGeom>
              <a:avLst/>
              <a:gdLst/>
              <a:ahLst/>
              <a:cxnLst/>
              <a:rect r="r" b="b" t="t" l="l"/>
              <a:pathLst>
                <a:path h="1314451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14451"/>
                  </a:lnTo>
                  <a:lnTo>
                    <a:pt x="0" y="13144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8" r="0" b="-404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646068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GRADE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77551" y="3268323"/>
            <a:ext cx="4694949" cy="985838"/>
            <a:chOff x="0" y="0"/>
            <a:chExt cx="6259932" cy="1314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59957" cy="1314450"/>
            </a:xfrm>
            <a:custGeom>
              <a:avLst/>
              <a:gdLst/>
              <a:ahLst/>
              <a:cxnLst/>
              <a:rect r="r" b="b" t="t" l="l"/>
              <a:pathLst>
                <a:path h="1314450" w="6259957">
                  <a:moveTo>
                    <a:pt x="0" y="0"/>
                  </a:moveTo>
                  <a:lnTo>
                    <a:pt x="6259957" y="0"/>
                  </a:lnTo>
                  <a:lnTo>
                    <a:pt x="6259957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877551" y="3268323"/>
            <a:ext cx="4694949" cy="985838"/>
            <a:chOff x="0" y="0"/>
            <a:chExt cx="6259932" cy="1314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59933" cy="1314451"/>
            </a:xfrm>
            <a:custGeom>
              <a:avLst/>
              <a:gdLst/>
              <a:ahLst/>
              <a:cxnLst/>
              <a:rect r="r" b="b" t="t" l="l"/>
              <a:pathLst>
                <a:path h="1314451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14451"/>
                  </a:lnTo>
                  <a:lnTo>
                    <a:pt x="0" y="13144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795" r="0" b="-427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259932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SCORE RANGE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4254160"/>
            <a:ext cx="2734551" cy="1000125"/>
            <a:chOff x="0" y="0"/>
            <a:chExt cx="3646068" cy="133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46067" cy="1333501"/>
            </a:xfrm>
            <a:custGeom>
              <a:avLst/>
              <a:gdLst/>
              <a:ahLst/>
              <a:cxnLst/>
              <a:rect r="r" b="b" t="t" l="l"/>
              <a:pathLst>
                <a:path h="1333501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33501"/>
                  </a:lnTo>
                  <a:lnTo>
                    <a:pt x="0" y="13335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6" r="0" b="-32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646068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77551" y="4254160"/>
            <a:ext cx="4694949" cy="1000125"/>
            <a:chOff x="0" y="0"/>
            <a:chExt cx="6259932" cy="133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59933" cy="1333501"/>
            </a:xfrm>
            <a:custGeom>
              <a:avLst/>
              <a:gdLst/>
              <a:ahLst/>
              <a:cxnLst/>
              <a:rect r="r" b="b" t="t" l="l"/>
              <a:pathLst>
                <a:path h="1333501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33501"/>
                  </a:lnTo>
                  <a:lnTo>
                    <a:pt x="0" y="13335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469" r="0" b="-414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6259932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90 – 100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3000" y="5254285"/>
            <a:ext cx="2734551" cy="1014412"/>
            <a:chOff x="0" y="0"/>
            <a:chExt cx="3646068" cy="13525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46067" cy="1352549"/>
            </a:xfrm>
            <a:custGeom>
              <a:avLst/>
              <a:gdLst/>
              <a:ahLst/>
              <a:cxnLst/>
              <a:rect r="r" b="b" t="t" l="l"/>
              <a:pathLst>
                <a:path h="1352549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5" r="0" b="-25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3646068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77551" y="5254285"/>
            <a:ext cx="4694949" cy="1014412"/>
            <a:chOff x="0" y="0"/>
            <a:chExt cx="6259932" cy="1352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59933" cy="1352549"/>
            </a:xfrm>
            <a:custGeom>
              <a:avLst/>
              <a:gdLst/>
              <a:ahLst/>
              <a:cxnLst/>
              <a:rect r="r" b="b" t="t" l="l"/>
              <a:pathLst>
                <a:path h="1352549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1" r="0" b="-4018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6259932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80 – 89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6268698"/>
            <a:ext cx="2734551" cy="1014412"/>
            <a:chOff x="0" y="0"/>
            <a:chExt cx="3646068" cy="13525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46067" cy="1352549"/>
            </a:xfrm>
            <a:custGeom>
              <a:avLst/>
              <a:gdLst/>
              <a:ahLst/>
              <a:cxnLst/>
              <a:rect r="r" b="b" t="t" l="l"/>
              <a:pathLst>
                <a:path h="1352549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5" r="0" b="-25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3646068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877551" y="6268698"/>
            <a:ext cx="4694949" cy="1014412"/>
            <a:chOff x="0" y="0"/>
            <a:chExt cx="6259932" cy="13525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59933" cy="1352549"/>
            </a:xfrm>
            <a:custGeom>
              <a:avLst/>
              <a:gdLst/>
              <a:ahLst/>
              <a:cxnLst/>
              <a:rect r="r" b="b" t="t" l="l"/>
              <a:pathLst>
                <a:path h="1352549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1" r="0" b="-401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259932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70 – 79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3000" y="7283110"/>
            <a:ext cx="2734551" cy="1014412"/>
            <a:chOff x="0" y="0"/>
            <a:chExt cx="3646068" cy="13525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46067" cy="1352549"/>
            </a:xfrm>
            <a:custGeom>
              <a:avLst/>
              <a:gdLst/>
              <a:ahLst/>
              <a:cxnLst/>
              <a:rect r="r" b="b" t="t" l="l"/>
              <a:pathLst>
                <a:path h="1352549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5" r="0" b="-25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3646068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877551" y="7283110"/>
            <a:ext cx="4694949" cy="1014412"/>
            <a:chOff x="0" y="0"/>
            <a:chExt cx="6259932" cy="13525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59933" cy="1352549"/>
            </a:xfrm>
            <a:custGeom>
              <a:avLst/>
              <a:gdLst/>
              <a:ahLst/>
              <a:cxnLst/>
              <a:rect r="r" b="b" t="t" l="l"/>
              <a:pathLst>
                <a:path h="1352549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1" r="0" b="-4018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6259932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60 – 69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43000" y="8297523"/>
            <a:ext cx="2734551" cy="1014412"/>
            <a:chOff x="0" y="0"/>
            <a:chExt cx="3646068" cy="13525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46067" cy="1352549"/>
            </a:xfrm>
            <a:custGeom>
              <a:avLst/>
              <a:gdLst/>
              <a:ahLst/>
              <a:cxnLst/>
              <a:rect r="r" b="b" t="t" l="l"/>
              <a:pathLst>
                <a:path h="1352549" w="3646067">
                  <a:moveTo>
                    <a:pt x="0" y="0"/>
                  </a:moveTo>
                  <a:lnTo>
                    <a:pt x="3646067" y="0"/>
                  </a:lnTo>
                  <a:lnTo>
                    <a:pt x="3646067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5" r="0" b="-25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3646068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Fail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877551" y="8297523"/>
            <a:ext cx="4694949" cy="1014412"/>
            <a:chOff x="0" y="0"/>
            <a:chExt cx="6259932" cy="13525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59933" cy="1352549"/>
            </a:xfrm>
            <a:custGeom>
              <a:avLst/>
              <a:gdLst/>
              <a:ahLst/>
              <a:cxnLst/>
              <a:rect r="r" b="b" t="t" l="l"/>
              <a:pathLst>
                <a:path h="1352549" w="6259933">
                  <a:moveTo>
                    <a:pt x="0" y="0"/>
                  </a:moveTo>
                  <a:lnTo>
                    <a:pt x="6259933" y="0"/>
                  </a:lnTo>
                  <a:lnTo>
                    <a:pt x="6259933" y="1352549"/>
                  </a:lnTo>
                  <a:lnTo>
                    <a:pt x="0" y="135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1" r="0" b="-4018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6259932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Below 60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715500" y="3933530"/>
            <a:ext cx="74295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PROBLEM DEFINITION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715500" y="4915795"/>
            <a:ext cx="7429500" cy="2894562"/>
            <a:chOff x="0" y="0"/>
            <a:chExt cx="9906000" cy="38594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906000" cy="3859403"/>
            </a:xfrm>
            <a:custGeom>
              <a:avLst/>
              <a:gdLst/>
              <a:ahLst/>
              <a:cxnLst/>
              <a:rect r="r" b="b" t="t" l="l"/>
              <a:pathLst>
                <a:path h="3859403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3859403"/>
                  </a:lnTo>
                  <a:lnTo>
                    <a:pt x="0" y="3859403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15500" y="4915795"/>
            <a:ext cx="7429500" cy="114300"/>
            <a:chOff x="0" y="0"/>
            <a:chExt cx="9906000" cy="152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06000" cy="152400"/>
            </a:xfrm>
            <a:custGeom>
              <a:avLst/>
              <a:gdLst/>
              <a:ahLst/>
              <a:cxnLst/>
              <a:rect r="r" b="b" t="t" l="l"/>
              <a:pathLst>
                <a:path h="1524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287000" y="5553970"/>
            <a:ext cx="6286500" cy="144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MULTI-CLASS</a:t>
            </a:r>
          </a:p>
          <a:p>
            <a:pPr algn="l">
              <a:lnSpc>
                <a:spcPts val="517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CLASSIFICATION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29912" y="7281710"/>
            <a:ext cx="3146822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Categorical Labels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715000" cy="10287000"/>
            <a:chOff x="0" y="0"/>
            <a:chExt cx="7620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1335729"/>
            <a:ext cx="485775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CLEANING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0" y="1236707"/>
            <a:ext cx="10287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PREPROCESSING STEPS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43775" y="2218973"/>
            <a:ext cx="9118997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Removed outliers using the </a:t>
            </a:r>
            <a:r>
              <a:rPr lang="en-US" sz="23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IQR Method</a:t>
            </a: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(Interquartile Range)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43775" y="2954779"/>
            <a:ext cx="7118747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Handled missing values to ensure data integrity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43775" y="3690585"/>
            <a:ext cx="7765256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Improved dataset quality and reliability for modeling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0" y="5831329"/>
            <a:ext cx="10287000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FINAL DATASET SIZE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0" y="6568326"/>
            <a:ext cx="102870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4"/>
              </a:lnSpc>
            </a:pPr>
            <a:r>
              <a:rPr lang="en-US" sz="10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9,786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0" y="7768476"/>
            <a:ext cx="10287000" cy="4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Cleaned Student Records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714375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FEATURE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3805495"/>
            <a:ext cx="7143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ENCODING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762" y="4616310"/>
            <a:ext cx="54542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Label Encoding for categorical variables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8762" y="5302110"/>
            <a:ext cx="522922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Converts text data to numerical format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1285875"/>
            <a:ext cx="8001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SCALING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9762" y="2096691"/>
            <a:ext cx="401478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StandardScaler normalization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0" y="3096816"/>
            <a:ext cx="8001000" cy="3286125"/>
            <a:chOff x="0" y="0"/>
            <a:chExt cx="10668000" cy="438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8000" cy="4381500"/>
            </a:xfrm>
            <a:custGeom>
              <a:avLst/>
              <a:gdLst/>
              <a:ahLst/>
              <a:cxnLst/>
              <a:rect r="r" b="b" t="t" l="l"/>
              <a:pathLst>
                <a:path h="4381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4381500"/>
                  </a:lnTo>
                  <a:lnTo>
                    <a:pt x="0" y="43815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572625" y="3525441"/>
            <a:ext cx="714375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STANDARDIZATION PARAMETERS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2625" y="4121944"/>
            <a:ext cx="168949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μ = 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2625" y="5093494"/>
            <a:ext cx="1689497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MEAN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87612" y="4121944"/>
            <a:ext cx="1528762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σ =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87612" y="5093494"/>
            <a:ext cx="1528762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VARIANCE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7097316"/>
            <a:ext cx="8001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IMPORTANCE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9762" y="7908131"/>
            <a:ext cx="612219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Improves model performance &amp; convergence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9762" y="8593931"/>
            <a:ext cx="561498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Critical for distance-based models (KNN)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714375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TRAIN-TEST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SPLIT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4329370"/>
            <a:ext cx="3411141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4"/>
              </a:lnSpc>
            </a:pPr>
            <a:r>
              <a:rPr lang="en-US" sz="104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80%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39891" y="4994929"/>
            <a:ext cx="1703784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6043870"/>
            <a:ext cx="337185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4"/>
              </a:lnSpc>
            </a:pPr>
            <a:r>
              <a:rPr lang="en-US" sz="10400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20%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00600" y="6709429"/>
            <a:ext cx="1514475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1808207"/>
            <a:ext cx="3671888" cy="61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8338" y="2790473"/>
            <a:ext cx="7586662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Stratified sampling used to maintain class proportions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8338" y="3956247"/>
            <a:ext cx="7586662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Ensures the model is evaluated on a representative sample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338" y="5122012"/>
            <a:ext cx="6890147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Prevents bias in grade distribution across sets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6504994"/>
            <a:ext cx="8001000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✔ ENSURES BALANCED CLASS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MODELS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4091245"/>
            <a:ext cx="5048231" cy="5686425"/>
            <a:chOff x="0" y="0"/>
            <a:chExt cx="6730975" cy="7581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10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81900"/>
                  </a:lnTo>
                  <a:lnTo>
                    <a:pt x="0" y="75819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3000" y="4091245"/>
            <a:ext cx="5048231" cy="114300"/>
            <a:chOff x="0" y="0"/>
            <a:chExt cx="6730975" cy="15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3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71625" y="4710370"/>
            <a:ext cx="4190981" cy="95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DECISION</a:t>
            </a:r>
          </a:p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TREE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5950" y="5997178"/>
            <a:ext cx="3876656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Simple rule-based classification model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19856" y="4091245"/>
            <a:ext cx="5048231" cy="5686425"/>
            <a:chOff x="0" y="0"/>
            <a:chExt cx="6730975" cy="7581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10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81900"/>
                  </a:lnTo>
                  <a:lnTo>
                    <a:pt x="0" y="75819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19856" y="4091245"/>
            <a:ext cx="5048231" cy="114300"/>
            <a:chOff x="0" y="0"/>
            <a:chExt cx="6730975" cy="152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3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048481" y="4710370"/>
            <a:ext cx="4190981" cy="95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RANDOM</a:t>
            </a:r>
          </a:p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FOREST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62806" y="5997178"/>
            <a:ext cx="3876656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Ensemble learning algorithm using multiple trees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96712" y="4091245"/>
            <a:ext cx="5048231" cy="5686425"/>
            <a:chOff x="0" y="0"/>
            <a:chExt cx="6730975" cy="7581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310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81900"/>
                  </a:lnTo>
                  <a:lnTo>
                    <a:pt x="0" y="75819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96712" y="4091245"/>
            <a:ext cx="5048231" cy="114300"/>
            <a:chOff x="0" y="0"/>
            <a:chExt cx="6730975" cy="15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3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525337" y="4710370"/>
            <a:ext cx="4190981" cy="95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K-NEAREST</a:t>
            </a:r>
          </a:p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NEIGHBORS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39662" y="5997178"/>
            <a:ext cx="3876656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Similarity and distance-based classifier (K=5)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MODEL EXPLANATION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3658848"/>
            <a:ext cx="4953019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b="true" sz="1600" spc="2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RULE-BASED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4300595"/>
            <a:ext cx="495301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DECISION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TREE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325" y="5529320"/>
            <a:ext cx="4638694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Flowchart-like structure for decision making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7325" y="6506566"/>
            <a:ext cx="4129088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Fast training and easy to interpret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7325" y="7123767"/>
            <a:ext cx="4638694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High risk of overfitting on complex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19" y="3658848"/>
            <a:ext cx="4953019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b="true" sz="1600" spc="2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ENSEMBLE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19" y="4300595"/>
            <a:ext cx="495301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RANDOM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FOREST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1844" y="5529320"/>
            <a:ext cx="4393406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Collection of multiple decision trees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81844" y="6146530"/>
            <a:ext cx="4638694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Highly accurate and reduces variance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1844" y="7123767"/>
            <a:ext cx="4454128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Stable performance across datasets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38" y="3658848"/>
            <a:ext cx="4953019" cy="28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b="true" sz="1600" spc="2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INSTANCE-BASED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2038" y="4300595"/>
            <a:ext cx="495301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K-NEAREST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NEIGHBORS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6363" y="5529320"/>
            <a:ext cx="4525566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Classifies based on feature similarity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6363" y="6146530"/>
            <a:ext cx="4229100" cy="38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Simple implementation (K=5 used)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06363" y="6763731"/>
            <a:ext cx="4638694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Computationally slower with large data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160020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MODEL PERFORMANCE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2982573"/>
            <a:ext cx="9086850" cy="5715000"/>
            <a:chOff x="0" y="0"/>
            <a:chExt cx="12115800" cy="76200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21158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2115800">
                  <a:moveTo>
                    <a:pt x="0" y="0"/>
                  </a:moveTo>
                  <a:lnTo>
                    <a:pt x="12115800" y="0"/>
                  </a:lnTo>
                  <a:lnTo>
                    <a:pt x="121158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5" r="0" b="-12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87100" y="3375479"/>
            <a:ext cx="3277591" cy="775097"/>
            <a:chOff x="0" y="0"/>
            <a:chExt cx="4370121" cy="10334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70070" cy="1033399"/>
            </a:xfrm>
            <a:custGeom>
              <a:avLst/>
              <a:gdLst/>
              <a:ahLst/>
              <a:cxnLst/>
              <a:rect r="r" b="b" t="t" l="l"/>
              <a:pathLst>
                <a:path h="1033399" w="4370070">
                  <a:moveTo>
                    <a:pt x="0" y="0"/>
                  </a:moveTo>
                  <a:lnTo>
                    <a:pt x="4370070" y="0"/>
                  </a:lnTo>
                  <a:lnTo>
                    <a:pt x="4370070" y="1033399"/>
                  </a:lnTo>
                  <a:lnTo>
                    <a:pt x="0" y="1033399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087100" y="3375479"/>
            <a:ext cx="3277591" cy="775097"/>
            <a:chOff x="0" y="0"/>
            <a:chExt cx="4370121" cy="10334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70115" cy="1033461"/>
            </a:xfrm>
            <a:custGeom>
              <a:avLst/>
              <a:gdLst/>
              <a:ahLst/>
              <a:cxnLst/>
              <a:rect r="r" b="b" t="t" l="l"/>
              <a:pathLst>
                <a:path h="1033461" w="4370115">
                  <a:moveTo>
                    <a:pt x="0" y="0"/>
                  </a:moveTo>
                  <a:lnTo>
                    <a:pt x="4370115" y="0"/>
                  </a:lnTo>
                  <a:lnTo>
                    <a:pt x="4370115" y="1033461"/>
                  </a:lnTo>
                  <a:lnTo>
                    <a:pt x="0" y="10334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394" r="0" b="-323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370121" cy="1042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MODEL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364691" y="3375479"/>
            <a:ext cx="2780309" cy="775097"/>
            <a:chOff x="0" y="0"/>
            <a:chExt cx="3707079" cy="10334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07130" cy="1033399"/>
            </a:xfrm>
            <a:custGeom>
              <a:avLst/>
              <a:gdLst/>
              <a:ahLst/>
              <a:cxnLst/>
              <a:rect r="r" b="b" t="t" l="l"/>
              <a:pathLst>
                <a:path h="1033399" w="3707130">
                  <a:moveTo>
                    <a:pt x="0" y="0"/>
                  </a:moveTo>
                  <a:lnTo>
                    <a:pt x="3707130" y="0"/>
                  </a:lnTo>
                  <a:lnTo>
                    <a:pt x="3707130" y="1033399"/>
                  </a:lnTo>
                  <a:lnTo>
                    <a:pt x="0" y="1033399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364691" y="3375479"/>
            <a:ext cx="2780309" cy="775097"/>
            <a:chOff x="0" y="0"/>
            <a:chExt cx="3707079" cy="10334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07085" cy="1033461"/>
            </a:xfrm>
            <a:custGeom>
              <a:avLst/>
              <a:gdLst/>
              <a:ahLst/>
              <a:cxnLst/>
              <a:rect r="r" b="b" t="t" l="l"/>
              <a:pathLst>
                <a:path h="1033461" w="3707085">
                  <a:moveTo>
                    <a:pt x="0" y="0"/>
                  </a:moveTo>
                  <a:lnTo>
                    <a:pt x="3707085" y="0"/>
                  </a:lnTo>
                  <a:lnTo>
                    <a:pt x="3707085" y="1033461"/>
                  </a:lnTo>
                  <a:lnTo>
                    <a:pt x="0" y="10334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893" r="0" b="-198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707079" cy="1042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ACCURACY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87100" y="4150576"/>
            <a:ext cx="3277591" cy="789384"/>
            <a:chOff x="0" y="0"/>
            <a:chExt cx="4370121" cy="10525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70115" cy="1052512"/>
            </a:xfrm>
            <a:custGeom>
              <a:avLst/>
              <a:gdLst/>
              <a:ahLst/>
              <a:cxnLst/>
              <a:rect r="r" b="b" t="t" l="l"/>
              <a:pathLst>
                <a:path h="1052512" w="4370115">
                  <a:moveTo>
                    <a:pt x="0" y="0"/>
                  </a:moveTo>
                  <a:lnTo>
                    <a:pt x="4370115" y="0"/>
                  </a:lnTo>
                  <a:lnTo>
                    <a:pt x="4370115" y="1052512"/>
                  </a:lnTo>
                  <a:lnTo>
                    <a:pt x="0" y="10525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903" r="0" b="-3090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370121" cy="1052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Random Forest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364691" y="4150576"/>
            <a:ext cx="2780309" cy="789384"/>
            <a:chOff x="0" y="0"/>
            <a:chExt cx="3707079" cy="10525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07085" cy="1052512"/>
            </a:xfrm>
            <a:custGeom>
              <a:avLst/>
              <a:gdLst/>
              <a:ahLst/>
              <a:cxnLst/>
              <a:rect r="r" b="b" t="t" l="l"/>
              <a:pathLst>
                <a:path h="1052512" w="3707085">
                  <a:moveTo>
                    <a:pt x="0" y="0"/>
                  </a:moveTo>
                  <a:lnTo>
                    <a:pt x="3707085" y="0"/>
                  </a:lnTo>
                  <a:lnTo>
                    <a:pt x="3707085" y="1052512"/>
                  </a:lnTo>
                  <a:lnTo>
                    <a:pt x="0" y="10525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28" r="0" b="-186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707079" cy="1052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91.82%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87100" y="4939960"/>
            <a:ext cx="3277591" cy="803672"/>
            <a:chOff x="0" y="0"/>
            <a:chExt cx="4370121" cy="10715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70115" cy="1071563"/>
            </a:xfrm>
            <a:custGeom>
              <a:avLst/>
              <a:gdLst/>
              <a:ahLst/>
              <a:cxnLst/>
              <a:rect r="r" b="b" t="t" l="l"/>
              <a:pathLst>
                <a:path h="1071563" w="4370115">
                  <a:moveTo>
                    <a:pt x="0" y="0"/>
                  </a:moveTo>
                  <a:lnTo>
                    <a:pt x="4370115" y="0"/>
                  </a:lnTo>
                  <a:lnTo>
                    <a:pt x="4370115" y="1071563"/>
                  </a:lnTo>
                  <a:lnTo>
                    <a:pt x="0" y="1071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465" r="0" b="-294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370121" cy="1071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Decision Tree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364691" y="4939960"/>
            <a:ext cx="2780309" cy="803672"/>
            <a:chOff x="0" y="0"/>
            <a:chExt cx="3707079" cy="10715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07085" cy="1071563"/>
            </a:xfrm>
            <a:custGeom>
              <a:avLst/>
              <a:gdLst/>
              <a:ahLst/>
              <a:cxnLst/>
              <a:rect r="r" b="b" t="t" l="l"/>
              <a:pathLst>
                <a:path h="1071563" w="3707085">
                  <a:moveTo>
                    <a:pt x="0" y="0"/>
                  </a:moveTo>
                  <a:lnTo>
                    <a:pt x="3707085" y="0"/>
                  </a:lnTo>
                  <a:lnTo>
                    <a:pt x="3707085" y="1071563"/>
                  </a:lnTo>
                  <a:lnTo>
                    <a:pt x="0" y="1071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08" r="0" b="-174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707079" cy="107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87.48%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87100" y="5743632"/>
            <a:ext cx="3277591" cy="803672"/>
            <a:chOff x="0" y="0"/>
            <a:chExt cx="4370121" cy="10715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70115" cy="1071563"/>
            </a:xfrm>
            <a:custGeom>
              <a:avLst/>
              <a:gdLst/>
              <a:ahLst/>
              <a:cxnLst/>
              <a:rect r="r" b="b" t="t" l="l"/>
              <a:pathLst>
                <a:path h="1071563" w="4370115">
                  <a:moveTo>
                    <a:pt x="0" y="0"/>
                  </a:moveTo>
                  <a:lnTo>
                    <a:pt x="4370115" y="0"/>
                  </a:lnTo>
                  <a:lnTo>
                    <a:pt x="4370115" y="1071563"/>
                  </a:lnTo>
                  <a:lnTo>
                    <a:pt x="0" y="1071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465" r="0" b="-294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370121" cy="1071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KNN (K=5)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364691" y="5743632"/>
            <a:ext cx="2780309" cy="803672"/>
            <a:chOff x="0" y="0"/>
            <a:chExt cx="3707079" cy="10715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07085" cy="1071563"/>
            </a:xfrm>
            <a:custGeom>
              <a:avLst/>
              <a:gdLst/>
              <a:ahLst/>
              <a:cxnLst/>
              <a:rect r="r" b="b" t="t" l="l"/>
              <a:pathLst>
                <a:path h="1071563" w="3707085">
                  <a:moveTo>
                    <a:pt x="0" y="0"/>
                  </a:moveTo>
                  <a:lnTo>
                    <a:pt x="3707085" y="0"/>
                  </a:lnTo>
                  <a:lnTo>
                    <a:pt x="3707085" y="1071563"/>
                  </a:lnTo>
                  <a:lnTo>
                    <a:pt x="0" y="1071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08" r="0" b="-1740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07079" cy="107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83.24%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087100" y="7475992"/>
            <a:ext cx="60579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✔ RANDOM FOREST IS THE BEST MODEL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5715000" cy="16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FEATURE</a:t>
            </a:r>
          </a:p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IMPORTANCE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4138870"/>
            <a:ext cx="5715000" cy="3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KEY FINDING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7325" y="4680604"/>
            <a:ext cx="5400675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Academic scores are the strongest predictors of final grades.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325" y="5614987"/>
            <a:ext cx="5400675" cy="7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Math score shows the highest correlation with performance.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29500" y="857250"/>
            <a:ext cx="9715500" cy="6429375"/>
            <a:chOff x="0" y="0"/>
            <a:chExt cx="12954000" cy="8572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54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8572500"/>
                  </a:lnTo>
                  <a:lnTo>
                    <a:pt x="0" y="85725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15250" y="1428750"/>
            <a:ext cx="9144000" cy="5857875"/>
            <a:chOff x="0" y="0"/>
            <a:chExt cx="12192000" cy="78105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2192000" cy="7810500"/>
            </a:xfrm>
            <a:custGeom>
              <a:avLst/>
              <a:gdLst/>
              <a:ahLst/>
              <a:cxnLst/>
              <a:rect r="r" b="b" t="t" l="l"/>
              <a:pathLst>
                <a:path h="78105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810500"/>
                  </a:lnTo>
                  <a:lnTo>
                    <a:pt x="0" y="781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3240" y="1851364"/>
            <a:ext cx="16796060" cy="7999123"/>
          </a:xfrm>
          <a:custGeom>
            <a:avLst/>
            <a:gdLst/>
            <a:ahLst/>
            <a:cxnLst/>
            <a:rect r="r" b="b" t="t" l="l"/>
            <a:pathLst>
              <a:path h="7999123" w="16796060">
                <a:moveTo>
                  <a:pt x="0" y="0"/>
                </a:moveTo>
                <a:lnTo>
                  <a:pt x="16796060" y="0"/>
                </a:lnTo>
                <a:lnTo>
                  <a:pt x="16796060" y="7999123"/>
                </a:lnTo>
                <a:lnTo>
                  <a:pt x="0" y="799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3240" y="524180"/>
            <a:ext cx="2034670" cy="11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4"/>
              </a:lnSpc>
            </a:pPr>
            <a:r>
              <a:rPr lang="en-US" sz="8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GUI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335729"/>
            <a:ext cx="8915400" cy="80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8775" y="3096873"/>
            <a:ext cx="8429625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achieved the best predictive performance (92.19% Accuracy)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775" y="4334075"/>
            <a:ext cx="8429625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Academic scores</a:t>
            </a: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(Math, Reading, Writing) were the strongest predictors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8775" y="5571287"/>
            <a:ext cx="8429625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300" b="tru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Machine Learning effectively supports </a:t>
            </a:r>
            <a:r>
              <a:rPr lang="en-US" sz="23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early student intervention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7822911"/>
            <a:ext cx="891540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59669"/>
                </a:solidFill>
                <a:latin typeface="Inter Bold"/>
                <a:ea typeface="Inter Bold"/>
                <a:cs typeface="Inter Bold"/>
                <a:sym typeface="Inter Bold"/>
              </a:rPr>
              <a:t>PRACTICAL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8276539"/>
            <a:ext cx="89154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Supports better educational decision-making and identifies struggling students earlier.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629900" y="0"/>
            <a:ext cx="7658100" cy="10287000"/>
            <a:chOff x="0" y="0"/>
            <a:chExt cx="102108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1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87150" y="1236707"/>
            <a:ext cx="59436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FUTURE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72925" y="2190398"/>
            <a:ext cx="545782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Incorporate attendance and study-hour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72925" y="3347685"/>
            <a:ext cx="513992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Build a real-time academic 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72925" y="4104923"/>
            <a:ext cx="5086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Explore Deep Learning models (ANN)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9000" y="4638980"/>
            <a:ext cx="11430000" cy="124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4"/>
              </a:lnSpc>
            </a:pPr>
            <a:r>
              <a:rPr lang="en-US" b="true" sz="9000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2151202" y="-3871224"/>
            <a:ext cx="190894" cy="10287000"/>
            <a:chOff x="0" y="0"/>
            <a:chExt cx="254525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-95447" y="-3305604"/>
            <a:ext cx="190894" cy="10287000"/>
            <a:chOff x="0" y="0"/>
            <a:chExt cx="254525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-1328389" y="-2743235"/>
            <a:ext cx="190894" cy="10287000"/>
            <a:chOff x="0" y="0"/>
            <a:chExt cx="254525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8903649" y="2566478"/>
            <a:ext cx="190894" cy="10287000"/>
            <a:chOff x="0" y="0"/>
            <a:chExt cx="254525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6656999" y="3132098"/>
            <a:ext cx="190894" cy="10287000"/>
            <a:chOff x="0" y="0"/>
            <a:chExt cx="254525" cy="137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424058" y="3694467"/>
            <a:ext cx="190894" cy="10287000"/>
            <a:chOff x="0" y="0"/>
            <a:chExt cx="254525" cy="137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5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525">
                  <a:moveTo>
                    <a:pt x="0" y="0"/>
                  </a:moveTo>
                  <a:lnTo>
                    <a:pt x="254525" y="0"/>
                  </a:lnTo>
                  <a:lnTo>
                    <a:pt x="2545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DAHJRS-Vi_Q</dc:identifier>
  <dcterms:modified xsi:type="dcterms:W3CDTF">2011-08-01T06:04:30Z</dcterms:modified>
  <cp:revision>1</cp:revision>
  <dc:title>Student_Performance_Grade_Prediction.pptx</dc:title>
</cp:coreProperties>
</file>